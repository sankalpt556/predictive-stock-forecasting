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4"/>
    <p:sldId id="269" r:id="rId5"/>
    <p:sldId id="258" r:id="rId6"/>
    <p:sldId id="270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8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8E31D56-F253-4F2B-AE9B-4D130BCD8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9333" r="90000">
                        <a14:foregroundMark x1="52917" y1="30000" x2="37500" y2="39583"/>
                        <a14:foregroundMark x1="74000" y1="22917" x2="72667" y2="28583"/>
                        <a14:foregroundMark x1="16833" y1="84333" x2="9833" y2="84500"/>
                        <a14:foregroundMark x1="9833" y1="84500" x2="9333" y2="83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58180" y="261445"/>
            <a:ext cx="4827638" cy="3495579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86102" y="5315574"/>
            <a:ext cx="2772545" cy="1276385"/>
          </a:xfrm>
        </p:spPr>
        <p:txBody>
          <a:bodyPr>
            <a:noAutofit/>
          </a:bodyPr>
          <a:lstStyle/>
          <a:p>
            <a:pPr algn="l"/>
            <a:r>
              <a:rPr sz="2400" dirty="0">
                <a:solidFill>
                  <a:schemeClr val="tx1"/>
                </a:solidFill>
              </a:rPr>
              <a:t>S</a:t>
            </a:r>
            <a:r>
              <a:rPr lang="en-IN" sz="2400" dirty="0" err="1">
                <a:solidFill>
                  <a:schemeClr val="tx1"/>
                </a:solidFill>
              </a:rPr>
              <a:t>ubmitted</a:t>
            </a:r>
            <a:r>
              <a:rPr lang="en-IN" sz="2400" dirty="0">
                <a:solidFill>
                  <a:schemeClr val="tx1"/>
                </a:solidFill>
              </a:rPr>
              <a:t> By: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    </a:t>
            </a:r>
            <a:r>
              <a:rPr sz="2400" dirty="0">
                <a:solidFill>
                  <a:schemeClr val="tx1"/>
                </a:solidFill>
              </a:rPr>
              <a:t>Sankalp Tripathi</a:t>
            </a:r>
            <a:r>
              <a:rPr lang="en-IN" sz="2400" dirty="0">
                <a:solidFill>
                  <a:schemeClr val="tx1"/>
                </a:solidFill>
              </a:rPr>
              <a:t>.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    DS5B2327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77E012-A96A-4484-B5CB-29E0871BB47B}"/>
              </a:ext>
            </a:extLst>
          </p:cNvPr>
          <p:cNvSpPr txBox="1"/>
          <p:nvPr/>
        </p:nvSpPr>
        <p:spPr>
          <a:xfrm>
            <a:off x="509326" y="5306781"/>
            <a:ext cx="3790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Calibri"/>
              </a:rPr>
              <a:t>Guided By:</a:t>
            </a:r>
          </a:p>
          <a:p>
            <a:r>
              <a:rPr lang="en-IN" sz="2400" dirty="0">
                <a:latin typeface="Calibri"/>
              </a:rPr>
              <a:t>Dr. Vandit Hedau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71B0DB-EB54-4773-AA62-3E73F78BFA52}"/>
              </a:ext>
            </a:extLst>
          </p:cNvPr>
          <p:cNvSpPr/>
          <p:nvPr/>
        </p:nvSpPr>
        <p:spPr>
          <a:xfrm>
            <a:off x="806321" y="2252960"/>
            <a:ext cx="753135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00"/>
                </a:solidFill>
                <a:effectLst/>
              </a:rPr>
              <a:t>MarketSight :</a:t>
            </a:r>
          </a:p>
          <a:p>
            <a:pPr algn="ctr"/>
            <a:r>
              <a:rPr lang="en-I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00"/>
                </a:solidFill>
              </a:rPr>
              <a:t>Predictive Stock Analytics</a:t>
            </a:r>
            <a:endParaRPr lang="en-IN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FF00"/>
              </a:solidFill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A0650C-7FC9-4F92-8B88-E06BC1D41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0925"/>
            <a:ext cx="9143999" cy="32345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7078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29025"/>
          </a:xfrm>
        </p:spPr>
        <p:txBody>
          <a:bodyPr/>
          <a:lstStyle/>
          <a:p>
            <a:pPr>
              <a:buNone/>
            </a:pPr>
            <a:r>
              <a:rPr lang="en-US" b="1" dirty="0"/>
              <a:t>Objective: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main goal of this project is to build a platform that predicts </a:t>
            </a:r>
            <a:r>
              <a:rPr lang="en-US" sz="2400" b="1" dirty="0"/>
              <a:t>future stock prices</a:t>
            </a:r>
            <a:r>
              <a:rPr lang="en-US" sz="2400" dirty="0"/>
              <a:t> by analyzing historical data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Additionally, it evaluates the </a:t>
            </a:r>
            <a:r>
              <a:rPr lang="en-US" sz="2400" b="1" dirty="0"/>
              <a:t>sentiment of news articles</a:t>
            </a:r>
            <a:r>
              <a:rPr lang="en-US" sz="2400" dirty="0"/>
              <a:t> related to different companies, helping users understand the market mood before investing.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1229-99C1-4288-A6D7-B62C82C4A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Key Features: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00922-428E-4601-A6A1-CB3F181CB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Stock Prediction using Machine Learning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system uses advanced ML models like </a:t>
            </a:r>
            <a:r>
              <a:rPr lang="en-US" b="1" dirty="0"/>
              <a:t>Simple Moving Average (SMA)</a:t>
            </a:r>
            <a:r>
              <a:rPr lang="en-US" dirty="0"/>
              <a:t>, </a:t>
            </a:r>
            <a:r>
              <a:rPr lang="en-US" b="1" dirty="0"/>
              <a:t>Random Forest</a:t>
            </a:r>
            <a:r>
              <a:rPr lang="en-US" dirty="0"/>
              <a:t>, and </a:t>
            </a:r>
            <a:r>
              <a:rPr lang="en-US" b="1" dirty="0"/>
              <a:t>Linear Regression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automatically selects the model with the </a:t>
            </a:r>
            <a:r>
              <a:rPr lang="en-US" b="1" dirty="0"/>
              <a:t>highest accuracy</a:t>
            </a:r>
            <a:r>
              <a:rPr lang="en-US" dirty="0"/>
              <a:t> to predict stock prices.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Sentiment Analysis of News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collects </a:t>
            </a:r>
            <a:r>
              <a:rPr lang="en-US" b="1" dirty="0"/>
              <a:t>live news articles</a:t>
            </a:r>
            <a:r>
              <a:rPr lang="en-US" dirty="0"/>
              <a:t> related to companies from trusted sources using an API.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Applies </a:t>
            </a:r>
            <a:r>
              <a:rPr lang="en-US" b="1" dirty="0"/>
              <a:t>NLP techniques</a:t>
            </a:r>
            <a:r>
              <a:rPr lang="en-US" dirty="0"/>
              <a:t> (using VADER) to classify news into </a:t>
            </a:r>
            <a:r>
              <a:rPr lang="en-US" b="1" dirty="0"/>
              <a:t>Positive</a:t>
            </a:r>
            <a:r>
              <a:rPr lang="en-US" dirty="0"/>
              <a:t>, </a:t>
            </a:r>
            <a:r>
              <a:rPr lang="en-US" b="1" dirty="0"/>
              <a:t>Negative</a:t>
            </a:r>
            <a:r>
              <a:rPr lang="en-US" dirty="0"/>
              <a:t>, or </a:t>
            </a:r>
            <a:r>
              <a:rPr lang="en-US" b="1" dirty="0"/>
              <a:t>Neutral</a:t>
            </a:r>
            <a:r>
              <a:rPr lang="en-US" dirty="0"/>
              <a:t> sentiments.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analysis provides valuable insights into public perception, which often impacts stock prices.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18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224998-99FE-11E1-88BC-695FA907FC0F}"/>
              </a:ext>
            </a:extLst>
          </p:cNvPr>
          <p:cNvSpPr txBox="1"/>
          <p:nvPr/>
        </p:nvSpPr>
        <p:spPr>
          <a:xfrm>
            <a:off x="428625" y="523875"/>
            <a:ext cx="4276725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Technologies Used:</a:t>
            </a:r>
          </a:p>
          <a:p>
            <a:pPr>
              <a:buNone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Python</a:t>
            </a:r>
            <a:r>
              <a:rPr lang="en-US" sz="2000" dirty="0"/>
              <a:t>: </a:t>
            </a:r>
          </a:p>
          <a:p>
            <a:pPr lvl="1"/>
            <a:r>
              <a:rPr lang="en-US" sz="2000" dirty="0"/>
              <a:t>Main programming language for     backend and data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Machine Learning (scikit-learn)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It is used to build and evaluate forecasting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/>
              <a:t>Streamlit</a:t>
            </a:r>
            <a:r>
              <a:rPr lang="en-US" sz="2000" dirty="0"/>
              <a:t>: </a:t>
            </a:r>
          </a:p>
          <a:p>
            <a:pPr lvl="1"/>
            <a:r>
              <a:rPr lang="en-US" sz="2000" dirty="0"/>
              <a:t>To create a modern and interactive web-based user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APIs</a:t>
            </a:r>
            <a:r>
              <a:rPr lang="en-US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MarketStack</a:t>
            </a:r>
            <a:r>
              <a:rPr lang="en-US" sz="2000" b="1" dirty="0"/>
              <a:t> API</a:t>
            </a:r>
            <a:r>
              <a:rPr lang="en-US" sz="2000" dirty="0"/>
              <a:t> for fetching historical stock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World News API</a:t>
            </a:r>
            <a:r>
              <a:rPr lang="en-US" sz="2000" dirty="0"/>
              <a:t> for retrieving recent news articles.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B3A985-F3CA-45A7-8CE8-2E8868267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587" y="1026885"/>
            <a:ext cx="6355973" cy="583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5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090204-EFD2-9169-3B27-4CEB5F7AB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5786"/>
            <a:ext cx="917257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User Authentication (Login/Signup):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provides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login and signup feature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users.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Usernames and passwords are stored in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 file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authenticated users can access the forecasting and sentiment </a:t>
            </a:r>
            <a:endParaRPr lang="en-US" altLang="en-US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analysis modules.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with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provide a clean and user-friendly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2370DDD-C24B-21F8-36DC-AB3060AE7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3719780"/>
            <a:ext cx="8477250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Stock Forecasting Module: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logging in, users can select a company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its stock prices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module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fetches historical stock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an external API.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 different ML models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(SMA, Random Forest, Linear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Regression) and selects the one with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accuracy (lowest MAPE)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 of Actual vs Predicted values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predicts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day's stock price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002783-40FD-4A27-9885-BDB4558C6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299" b="92116" l="9483" r="89943">
                        <a14:foregroundMark x1="44253" y1="43568" x2="44253" y2="43568"/>
                        <a14:foregroundMark x1="16667" y1="49378" x2="16667" y2="49378"/>
                        <a14:foregroundMark x1="16667" y1="49378" x2="16667" y2="49378"/>
                        <a14:foregroundMark x1="65805" y1="12033" x2="65805" y2="12033"/>
                        <a14:foregroundMark x1="65805" y1="12033" x2="65805" y2="12033"/>
                        <a14:foregroundMark x1="67529" y1="32780" x2="67529" y2="32780"/>
                        <a14:foregroundMark x1="67529" y1="32780" x2="67529" y2="32780"/>
                        <a14:foregroundMark x1="52874" y1="28216" x2="52874" y2="28216"/>
                        <a14:foregroundMark x1="52874" y1="28216" x2="52874" y2="28216"/>
                        <a14:foregroundMark x1="46264" y1="8299" x2="46264" y2="8299"/>
                        <a14:foregroundMark x1="70115" y1="21162" x2="70115" y2="21162"/>
                        <a14:foregroundMark x1="32471" y1="19502" x2="32471" y2="19502"/>
                        <a14:foregroundMark x1="54023" y1="80083" x2="54023" y2="80083"/>
                        <a14:foregroundMark x1="48563" y1="92116" x2="48563" y2="92116"/>
                        <a14:foregroundMark x1="42529" y1="72199" x2="42529" y2="721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05650" y="5590352"/>
            <a:ext cx="1954250" cy="13533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371A38-3016-087A-43D4-6D30D3634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49" y="1089898"/>
            <a:ext cx="7964128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News Sentiment Analysis Module: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search for a company's name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 recent news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articles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Analysis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VADER algorithm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Categorizes news 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Neutral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users understand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sentiment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can influence stock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movements.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2482B9-98F3-641A-5EFF-75699C1CE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49" y="3645592"/>
            <a:ext cx="8239431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Interface: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entirely using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ease of use and interactivity.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Sidebar navigation allows users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 between Forecasting and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Analysis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quickly.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design with real-time feedback, making the platform intuitive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 for non-technical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505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F9A47D3-4029-4B8F-884A-165B325B34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35" t="13863" r="13943" b="11058"/>
          <a:stretch/>
        </p:blipFill>
        <p:spPr>
          <a:xfrm>
            <a:off x="209550" y="44463"/>
            <a:ext cx="1590675" cy="1552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Login and Signup </a:t>
            </a:r>
            <a:r>
              <a:rPr sz="2800" dirty="0"/>
              <a:t>(login.py)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CA113E-FDA2-E0EA-0A68-BF2242281D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6638" y="1857793"/>
            <a:ext cx="787072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Functionality: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login/signup and session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Storage: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credentials saved in user.csv using </a:t>
            </a:r>
            <a:r>
              <a:rPr lang="en-US" altLang="en-US" sz="1800" dirty="0">
                <a:latin typeface="Arial" panose="020B0604020202020204" pitchFamily="34" charset="0"/>
              </a:rPr>
              <a:t>pandas.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Signup: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Collects username/password, checks for existing users, saves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users to CSV.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Validates username/password against CSV, updates session state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success.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Interface: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 with Login/Signup tabs, input fields, buttons,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styling, and logout.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Note: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Basic implementation; passwords stored in plain text (not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for production).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3F19ADD-F01E-48E2-8E01-8F134C8936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4000"/>
          </a:blip>
          <a:srcRect b="7153"/>
          <a:stretch/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Stock Forecasting </a:t>
            </a:r>
            <a:r>
              <a:rPr sz="2800" dirty="0"/>
              <a:t>(model.py)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C59769-26AE-AE85-6F4E-0251334DEF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62525"/>
            <a:ext cx="806380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Forecast stock prices using historical data and various modeling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Fetches End-of-Day (EOD) stock data from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Marketstack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API for selected companies.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Cleans and prepares fetched data, calculates an average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"Price", and creates lagged features for ML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Forecasting Models: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Implements and compares three models: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Simple Moving Average (SMA)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(ii) Random Forest Regressor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(iii) Linear 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Evaluates models based on Mean Absolute Percentage Error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(MAPE) on a test set and identifies the best-performing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Retrains the best model on the full dataset and predicts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stock price for the next business day.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Interface: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 allowing users to select a company,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recent data, run models, and see results and the next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 prediction.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5588"/>
            <a:ext cx="8229600" cy="1143000"/>
          </a:xfrm>
        </p:spPr>
        <p:txBody>
          <a:bodyPr/>
          <a:lstStyle/>
          <a:p>
            <a:r>
              <a:rPr dirty="0"/>
              <a:t>News Sentiment Analysis </a:t>
            </a:r>
            <a:r>
              <a:rPr sz="2800" dirty="0"/>
              <a:t>(news.py)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B141B5-59E1-AE1A-B862-737708C729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16522"/>
            <a:ext cx="800351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 the sentiment of news headlines for selected topics 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Fetches news articles from the World News API based on 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user-selected topic.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Analysis: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the VADER (Valence Aware Dictionary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Reasoner) library to calculate a sentiment compound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 for each article title.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Labeling: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Assigns a sentiment label (Positive, Negative, 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Neutral) based on the VADER compound 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Interface: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 allowing users to select a topic, fetch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news, and view a summary of sentiment distribution and the most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sentiment.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Key: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Requires an API key for the World News API.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Frontend </a:t>
            </a:r>
            <a:r>
              <a:rPr sz="2800" dirty="0"/>
              <a:t>(main.py)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5EDF4B-AEEC-DE2B-5AD1-DAC6B640DB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16522"/>
            <a:ext cx="794938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Acts as the central hub to integrate and navigate between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Login, Stock Forecasting, and News Sentiment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Streamlit's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session </a:t>
            </a:r>
            <a:r>
              <a:rPr lang="en-US" altLang="en-US" sz="1800" dirty="0">
                <a:latin typeface="Arial" panose="020B0604020202020204" pitchFamily="34" charset="0"/>
              </a:rPr>
              <a:t>state (</a:t>
            </a:r>
            <a:r>
              <a:rPr lang="en-US" altLang="en-US" sz="1800" dirty="0" err="1">
                <a:latin typeface="Arial" panose="020B0604020202020204" pitchFamily="34" charset="0"/>
              </a:rPr>
              <a:t>st.session_state</a:t>
            </a:r>
            <a:r>
              <a:rPr lang="en-US" altLang="en-US" sz="1800" dirty="0">
                <a:latin typeface="Arial" panose="020B0604020202020204" pitchFamily="34" charset="0"/>
              </a:rPr>
              <a:t>) to manage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user login status and the currently displayed page.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Login/Logout: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Displays the Login/Signup UI if the user is not logged 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logout option in the sidebar when logged 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a sidebar with radio buttons to switch between the "Stock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Forecasting" and "News Sentiment" pages after successful login.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 Display: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Instantiates and call</a:t>
            </a:r>
            <a:r>
              <a:rPr lang="en-US" altLang="en-US" sz="1800" dirty="0">
                <a:latin typeface="Arial" panose="020B0604020202020204" pitchFamily="34" charset="0"/>
              </a:rPr>
              <a:t>s the </a:t>
            </a:r>
            <a:r>
              <a:rPr lang="en-US" altLang="en-US" sz="1800" dirty="0" err="1">
                <a:latin typeface="Arial" panose="020B0604020202020204" pitchFamily="34" charset="0"/>
              </a:rPr>
              <a:t>build_ui</a:t>
            </a:r>
            <a:r>
              <a:rPr lang="en-US" altLang="en-US" sz="1800" dirty="0">
                <a:latin typeface="Arial" panose="020B0604020202020204" pitchFamily="34" charset="0"/>
              </a:rPr>
              <a:t> method of the selected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application (</a:t>
            </a:r>
            <a:r>
              <a:rPr lang="en-US" altLang="en-US" sz="1800" i="1" dirty="0" err="1">
                <a:latin typeface="Arial" panose="020B0604020202020204" pitchFamily="34" charset="0"/>
              </a:rPr>
              <a:t>StockForecastingApp</a:t>
            </a:r>
            <a:r>
              <a:rPr lang="en-US" altLang="en-US" sz="1800" i="1" dirty="0">
                <a:latin typeface="Arial" panose="020B0604020202020204" pitchFamily="34" charset="0"/>
              </a:rPr>
              <a:t> or News Sentiment Analyzer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i="1" dirty="0">
                <a:latin typeface="Arial" panose="020B0604020202020204" pitchFamily="34" charset="0"/>
              </a:rPr>
              <a:t>                  App</a:t>
            </a:r>
            <a:r>
              <a:rPr lang="en-US" altLang="en-US" sz="1800" dirty="0">
                <a:latin typeface="Arial" panose="020B0604020202020204" pitchFamily="34" charset="0"/>
              </a:rPr>
              <a:t>) based on the current page state.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Background: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Applies a consistent background style across all pages using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method from the Login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03ECA9-1F8A-4FB9-8DBC-8F1C802F62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807573">
            <a:off x="5353050" y="314324"/>
            <a:ext cx="3981450" cy="39814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APIs Used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E60EB9A-AD93-4608-A800-145B1D1194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1601026"/>
            <a:ext cx="850582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MarketStack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➔ Used to fetch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historical stock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especially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End-of-Day (EOD)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prices.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➔ Useful for financial apps, stock market analysis,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World News API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➔ Used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 news articles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specified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keywords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➔ Good for tracking news sentiment, global events, or enriching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real-world news.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VADER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(Valence Aware Dictionary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Reasoner)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➔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lexicon and rule-based sentiment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tool, specifically tuned for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media texts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➔ Great for quickly assessing if text data (like news articles) has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         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negative, or neutral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sentiment.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0" y="89873"/>
            <a:ext cx="2857500" cy="1143000"/>
          </a:xfrm>
        </p:spPr>
        <p:txBody>
          <a:bodyPr/>
          <a:lstStyle/>
          <a:p>
            <a:r>
              <a:rPr dirty="0"/>
              <a:t>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555086-9EC1-48F8-8E39-34DED27FE5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1268869"/>
            <a:ext cx="7949381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 Accuracy (MAPE):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 accuracy of the model was evaluated using the Mean Absolute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Percentage Error (MAPE). The model achieved a MAPE in the range of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5% to 9%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a good level of accuracy in forecasting and reliable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000" b="1" dirty="0">
                <a:latin typeface="Arial" panose="020B0604020202020204" pitchFamily="34" charset="0"/>
              </a:rPr>
              <a:t>News Sentiment Trends: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Sentiment analysis on news data revealed clear trends that aligned with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events. Positive news sentiment generally preceded upward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trends in actual data, while negative sentiment corresponded with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downward movements, showing a notable correlation between sentiment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market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000" b="1" dirty="0">
                <a:latin typeface="Arial" panose="020B0604020202020204" pitchFamily="34" charset="0"/>
              </a:rPr>
              <a:t>Actual vs Predicted Graphs: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Graphs comparing actual and predicted values were plotted to evaluate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performance visually. The predicted values closely followed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 values, confirming that the model effectively captured the underlying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patterns in the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CC164F-688D-4459-8922-B37644676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9444" r="91667">
                        <a14:foregroundMark x1="36944" y1="45278" x2="31111" y2="38333"/>
                        <a14:foregroundMark x1="9722" y1="29722" x2="10833" y2="30278"/>
                        <a14:foregroundMark x1="13611" y1="56111" x2="16111" y2="56944"/>
                        <a14:foregroundMark x1="27500" y1="45833" x2="33333" y2="45833"/>
                        <a14:foregroundMark x1="40278" y1="37778" x2="49444" y2="36111"/>
                        <a14:foregroundMark x1="68333" y1="40556" x2="68333" y2="50000"/>
                        <a14:foregroundMark x1="84722" y1="48333" x2="91667" y2="44722"/>
                        <a14:foregroundMark x1="41667" y1="47500" x2="46111" y2="33333"/>
                        <a14:foregroundMark x1="46111" y1="33333" x2="31111" y2="34722"/>
                        <a14:foregroundMark x1="31111" y1="34722" x2="30833" y2="51389"/>
                        <a14:foregroundMark x1="30833" y1="51389" x2="37222" y2="50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15000" y="-790575"/>
            <a:ext cx="3429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649E3A-24DB-4F99-999B-A0E065A672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4000"/>
          </a:blip>
          <a:srcRect t="14881" b="15476"/>
          <a:stretch/>
        </p:blipFill>
        <p:spPr>
          <a:xfrm>
            <a:off x="0" y="3514725"/>
            <a:ext cx="9144000" cy="33432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Challenges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45E12C0-C490-E25B-987C-0B587F504B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708747"/>
            <a:ext cx="7913077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Data Limitations: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Access to real-time and historical data via APIs was sometimes restricted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due to rate limits, missing values, or limited data availability, which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impacted the completeness and timeliness of the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Insufficient Data: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In several instances, the dataset lacked enough data points for certain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timeframes or events. To address this, data imputation techniques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fallback strategies were applied to maintain continuity and model stability.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vs Actual Market Movement Inconsistencies: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Although sentiment analysis often aligned with market movements, there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were notable exceptions. Some positive or negative sentiments did not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translate into expected market behavior, highlighting the complexity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unpredictability of real-world financial dynamics.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6DF165-B32B-4790-803D-335379A8E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143" b="92857" l="9690" r="89535">
                        <a14:foregroundMark x1="38372" y1="12755" x2="39147" y2="9184"/>
                        <a14:foregroundMark x1="64729" y1="15306" x2="61628" y2="8163"/>
                        <a14:foregroundMark x1="53101" y1="23980" x2="63178" y2="30612"/>
                        <a14:foregroundMark x1="53876" y1="33163" x2="62403" y2="33163"/>
                        <a14:foregroundMark x1="61628" y1="91327" x2="61628" y2="91327"/>
                        <a14:foregroundMark x1="61628" y1="91327" x2="61628" y2="91327"/>
                        <a14:foregroundMark x1="38372" y1="89286" x2="37984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6300" y="-76200"/>
            <a:ext cx="2206690" cy="1676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6AC1EF-D168-05A1-ED49-6DD2DAC337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00970"/>
            <a:ext cx="7892980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 of Deep Learning Models (LSTM, GRU):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Incorporating advanced deep learning architectures like LSTM (Long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Short-Term Memory) and GRU (Gated Recurrent Unit) can enhance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model's ability to capture long-term dependencies and improve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accuracy, especially for time-series stock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 Real-Time Stock Predictions: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Expanding the system to support real-time data processing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predictions will make the model more practical for active traders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analysts, enabling timely decision-making based on current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 Advanced Multi-language Sentiment Analysis: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Enhancing sentiment analysis capabilities to support multiple languages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will broaden the data sources and improve global market insight, 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more robust and applicable across diverse regions and news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outlets.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0E010D-7D9F-4A60-A066-F1829035AC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0333" y1="24063" x2="63761" y2="19688"/>
                        <a14:foregroundMark x1="67581" y1="16563" x2="67581" y2="16563"/>
                        <a14:foregroundMark x1="67581" y1="16563" x2="67581" y2="16563"/>
                        <a14:foregroundMark x1="75416" y1="33438" x2="77375" y2="33438"/>
                        <a14:foregroundMark x1="60529" y1="46406" x2="65622" y2="48125"/>
                        <a14:foregroundMark x1="46229" y1="56875" x2="49070" y2="60000"/>
                        <a14:foregroundMark x1="32223" y1="67813" x2="34966" y2="70938"/>
                        <a14:foregroundMark x1="18903" y1="79688" x2="21058" y2="84844"/>
                        <a14:backgroundMark x1="73066" y1="29219" x2="90402" y2="30000"/>
                        <a14:backgroundMark x1="78345" y1="31006" x2="79236" y2="30938"/>
                        <a14:backgroundMark x1="73066" y1="31406" x2="76325" y2="31159"/>
                        <a14:backgroundMark x1="79236" y1="30938" x2="90010" y2="30938"/>
                        <a14:backgroundMark x1="71009" y1="19531" x2="61019" y2="34531"/>
                        <a14:backgroundMark x1="61019" y1="34531" x2="55436" y2="38594"/>
                        <a14:backgroundMark x1="55436" y1="38594" x2="52595" y2="45313"/>
                        <a14:backgroundMark x1="38590" y1="50469" x2="42214" y2="62500"/>
                        <a14:backgroundMark x1="42214" y1="62500" x2="46817" y2="65156"/>
                        <a14:backgroundMark x1="19687" y1="60625" x2="29089" y2="76563"/>
                        <a14:backgroundMark x1="29089" y1="76563" x2="33007" y2="79219"/>
                      </a14:backgroundRemoval>
                    </a14:imgEffect>
                  </a14:imgLayer>
                </a14:imgProps>
              </a:ext>
            </a:extLst>
          </a:blip>
          <a:srcRect l="14999" t="-1368" r="6250" b="27752"/>
          <a:stretch/>
        </p:blipFill>
        <p:spPr>
          <a:xfrm>
            <a:off x="971550" y="1660496"/>
            <a:ext cx="7200900" cy="42195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784E7E-A754-5535-CD9C-BBB85EC037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8316" y="1660496"/>
            <a:ext cx="806736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Developed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platform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combining stock price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news sentiment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investment decisions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merging technical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sentiment-based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prediction accuracy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MAPE between 5% to 9%.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Observed a meaningful correlation between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news sentiment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trends and market behavior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Demonstrated the potential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application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financial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forecasting and decision-making.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31295-D2E3-447F-8933-C4AB9E1D8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917" b="91417" l="5417" r="96250">
                        <a14:foregroundMark x1="34000" y1="42333" x2="34000" y2="42333"/>
                        <a14:foregroundMark x1="34000" y1="42333" x2="33917" y2="46083"/>
                        <a14:foregroundMark x1="40000" y1="43333" x2="40250" y2="45583"/>
                        <a14:foregroundMark x1="50583" y1="44583" x2="52083" y2="46250"/>
                        <a14:foregroundMark x1="58333" y1="44583" x2="60833" y2="45667"/>
                        <a14:foregroundMark x1="65583" y1="44333" x2="65583" y2="45417"/>
                        <a14:foregroundMark x1="57750" y1="56500" x2="57333" y2="58750"/>
                        <a14:foregroundMark x1="53583" y1="58750" x2="53750" y2="60583"/>
                        <a14:foregroundMark x1="44750" y1="54833" x2="44833" y2="55667"/>
                        <a14:foregroundMark x1="25167" y1="26417" x2="25167" y2="26417"/>
                        <a14:foregroundMark x1="25167" y1="26417" x2="25167" y2="26417"/>
                        <a14:foregroundMark x1="21833" y1="22500" x2="21833" y2="22500"/>
                        <a14:foregroundMark x1="21833" y1="22500" x2="21833" y2="22500"/>
                        <a14:foregroundMark x1="9833" y1="19417" x2="9833" y2="19417"/>
                        <a14:foregroundMark x1="39333" y1="8917" x2="39333" y2="8917"/>
                        <a14:foregroundMark x1="24000" y1="91417" x2="24000" y2="91417"/>
                        <a14:foregroundMark x1="24000" y1="91417" x2="24000" y2="91417"/>
                        <a14:foregroundMark x1="9583" y1="81083" x2="9583" y2="81083"/>
                        <a14:foregroundMark x1="85583" y1="54167" x2="85583" y2="54167"/>
                        <a14:foregroundMark x1="88167" y1="39417" x2="88167" y2="39417"/>
                        <a14:foregroundMark x1="88167" y1="39417" x2="92083" y2="40000"/>
                        <a14:foregroundMark x1="93333" y1="40167" x2="96250" y2="40833"/>
                        <a14:foregroundMark x1="12500" y1="61500" x2="12500" y2="61500"/>
                        <a14:foregroundMark x1="12500" y1="61500" x2="13500" y2="63333"/>
                        <a14:foregroundMark x1="13917" y1="47917" x2="13917" y2="47917"/>
                        <a14:foregroundMark x1="10833" y1="45250" x2="10833" y2="45250"/>
                        <a14:foregroundMark x1="7750" y1="43750" x2="7750" y2="43750"/>
                        <a14:foregroundMark x1="10583" y1="39417" x2="10583" y2="39417"/>
                        <a14:foregroundMark x1="13333" y1="36000" x2="13333" y2="36000"/>
                        <a14:foregroundMark x1="16000" y1="37333" x2="16000" y2="37333"/>
                        <a14:foregroundMark x1="21083" y1="29417" x2="21083" y2="29417"/>
                        <a14:foregroundMark x1="18167" y1="33500" x2="18167" y2="33500"/>
                        <a14:foregroundMark x1="24417" y1="30250" x2="24417" y2="30250"/>
                        <a14:foregroundMark x1="5417" y1="47667" x2="5417" y2="47667"/>
                        <a14:foregroundMark x1="8750" y1="49833" x2="8750" y2="49833"/>
                        <a14:foregroundMark x1="10667" y1="51667" x2="10667" y2="51667"/>
                        <a14:foregroundMark x1="14333" y1="53917" x2="14333" y2="53917"/>
                        <a14:foregroundMark x1="16917" y1="55667" x2="16917" y2="55667"/>
                        <a14:backgroundMark x1="42083" y1="41250" x2="42083" y2="41250"/>
                        <a14:backgroundMark x1="26417" y1="28333" x2="26417" y2="28333"/>
                        <a14:backgroundMark x1="21250" y1="76250" x2="21250" y2="76250"/>
                        <a14:backgroundMark x1="20667" y1="74167" x2="20667" y2="74167"/>
                        <a14:backgroundMark x1="20667" y1="71417" x2="20667" y2="71417"/>
                        <a14:backgroundMark x1="21667" y1="79167" x2="21667" y2="79167"/>
                        <a14:backgroundMark x1="22667" y1="80583" x2="22667" y2="80583"/>
                        <a14:backgroundMark x1="24000" y1="82250" x2="24000" y2="82250"/>
                        <a14:backgroundMark x1="24417" y1="84583" x2="24417" y2="84583"/>
                        <a14:backgroundMark x1="26083" y1="85167" x2="26083" y2="85167"/>
                        <a14:backgroundMark x1="29333" y1="85583" x2="29333" y2="85583"/>
                        <a14:backgroundMark x1="28750" y1="85250" x2="28750" y2="85250"/>
                        <a14:backgroundMark x1="31667" y1="85167" x2="31667" y2="85167"/>
                        <a14:backgroundMark x1="58167" y1="28750" x2="58167" y2="28750"/>
                        <a14:backgroundMark x1="47750" y1="25417" x2="79000" y2="34250"/>
                        <a14:backgroundMark x1="79000" y1="34250" x2="73333" y2="59000"/>
                        <a14:backgroundMark x1="73333" y1="59000" x2="61833" y2="76917"/>
                        <a14:backgroundMark x1="61833" y1="76917" x2="37417" y2="72083"/>
                        <a14:backgroundMark x1="37417" y1="72083" x2="26083" y2="62333"/>
                        <a14:backgroundMark x1="26083" y1="62333" x2="25750" y2="38667"/>
                        <a14:backgroundMark x1="25750" y1="38667" x2="45667" y2="27250"/>
                        <a14:backgroundMark x1="45250" y1="13583" x2="45250" y2="13583"/>
                        <a14:backgroundMark x1="14583" y1="16667" x2="14583" y2="16667"/>
                        <a14:backgroundMark x1="23333" y1="19333" x2="23333" y2="19333"/>
                        <a14:backgroundMark x1="76417" y1="26917" x2="76417" y2="26917"/>
                        <a14:backgroundMark x1="67917" y1="25583" x2="67917" y2="25583"/>
                        <a14:backgroundMark x1="17083" y1="77083" x2="17083" y2="77083"/>
                        <a14:backgroundMark x1="17250" y1="74417" x2="17250" y2="74417"/>
                        <a14:backgroundMark x1="50000" y1="59167" x2="50000" y2="59167"/>
                        <a14:backgroundMark x1="50250" y1="46500" x2="50250" y2="46500"/>
                        <a14:backgroundMark x1="20667" y1="84750" x2="20667" y2="84750"/>
                        <a14:backgroundMark x1="18083" y1="74000" x2="18083" y2="74000"/>
                        <a14:backgroundMark x1="17917" y1="71500" x2="17917" y2="71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47875" y="833437"/>
            <a:ext cx="5191125" cy="5191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1677</Words>
  <Application>Microsoft Office PowerPoint</Application>
  <PresentationFormat>On-screen Show (4:3)</PresentationFormat>
  <Paragraphs>183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Introduction</vt:lpstr>
      <vt:lpstr>Key Features:</vt:lpstr>
      <vt:lpstr>PowerPoint Presentation</vt:lpstr>
      <vt:lpstr>System Overview</vt:lpstr>
      <vt:lpstr>PowerPoint Presentation</vt:lpstr>
      <vt:lpstr>Login and Signup (login.py)</vt:lpstr>
      <vt:lpstr>Stock Forecasting (model.py)</vt:lpstr>
      <vt:lpstr>News Sentiment Analysis (news.py)</vt:lpstr>
      <vt:lpstr>Frontend (main.py)</vt:lpstr>
      <vt:lpstr>APIs Used</vt:lpstr>
      <vt:lpstr>Results</vt:lpstr>
      <vt:lpstr>Challenges</vt:lpstr>
      <vt:lpstr>Future Scope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MarketSight :               Predictive Stock Analytics</dc:title>
  <dc:subject/>
  <dc:creator>ANJALI VYAS</dc:creator>
  <cp:keywords/>
  <dc:description>generated using python-pptx</dc:description>
  <cp:lastModifiedBy>ANJALI VYAS</cp:lastModifiedBy>
  <cp:revision>14</cp:revision>
  <dcterms:created xsi:type="dcterms:W3CDTF">2013-01-27T09:14:16Z</dcterms:created>
  <dcterms:modified xsi:type="dcterms:W3CDTF">2025-04-27T18:59:11Z</dcterms:modified>
  <cp:category/>
</cp:coreProperties>
</file>